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3962095" cy="411480"/>
          </a:xfrm>
          <a:prstGeom prst="roundRect">
            <a:avLst/>
          </a:prstGeom>
          <a:solidFill>
            <a:srgbClr val="102C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THE GLOBAL B2B SETTLEMENT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Helvetica"/>
              </a:defRPr>
            </a:pPr>
            <a:r>
              <a:t>The VISA Rail for Global B2B Invoicing</a:t>
            </a:r>
          </a:p>
          <a:p>
            <a:pPr algn="ctr">
              <a:defRPr sz="1500">
                <a:solidFill>
                  <a:srgbClr val="94A3B8"/>
                </a:solidFill>
                <a:latin typeface="Helvetica"/>
              </a:defRPr>
            </a:pPr>
            <a:r>
              <a:t>Decoupling enterprise trade from 60-day debt gridlock through decentralized ERP clearing,</a:t>
            </a:r>
            <a:br/>
            <a:r>
              <a:t>algorithmic netting, and zero-debt self-funding liquidity.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3200400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THE MACRO MARKET</a:t>
            </a:r>
            <a:br/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$120 Trillion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Global B2B payment volume trapped in 54-day DSO bilateral gridlock.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840480"/>
            <a:ext cx="3200400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FOUNDATIONAL RAIL</a:t>
            </a:r>
            <a:br/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Asymmetric PvP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Collect first, disburse later: $0 external debt required to clear scheduled netting.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840480"/>
            <a:ext cx="3200400" cy="20116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ctr">
              <a:defRPr sz="1000" b="1">
                <a:solidFill>
                  <a:srgbClr val="14B8A6"/>
                </a:solidFill>
              </a:defRPr>
            </a:pPr>
            <a:r>
              <a:t>THE VIRAL ENGINE</a:t>
            </a:r>
            <a:br/>
          </a:p>
          <a:p>
            <a:pPr>
              <a:defRPr sz="2800" b="1">
                <a:solidFill>
                  <a:srgbClr val="14B8A6"/>
                </a:solidFill>
              </a:defRPr>
            </a:pPr>
            <a:r>
              <a:t>Anchor Treasury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Corporate buyers earn 8%–10% APY by funding their own suppliers early.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PROBLEM 01 // MACRO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The $120T B2B Liquidity Chokehold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How 54-day payment cycles paralyze global supply chains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37744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3200" b="1">
                <a:solidFill>
                  <a:srgbClr val="EF4444"/>
                </a:solidFill>
              </a:defRPr>
            </a:pPr>
            <a:r>
              <a:t>54 Days</a:t>
            </a:r>
            <a:br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Average Global DSO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Suppliers deliver goods today but wait 2 to 3 months to be paid. Meanwhile, payroll, VAT, and rent must be paid in cash on day 30.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237744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$3.1 Trillion</a:t>
            </a:r>
            <a:br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Trapped Working Capital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Capital frozen in unpaid accounts receivable at any given hour. Large enterprises use SME supplier balance sheets as free credit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237744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95%</a:t>
            </a:r>
            <a:br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Archaic Paper &amp; PDF Rails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Consumer commerce moved to instant VISA chips in seconds. B2B payments still run on static PDFs, manual IBAN wires, and email chasing.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07040" cy="16459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⚠️ THE BILATERAL GRIDLOCK PARADOX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Company A cannot pay Supplier B because Customer C hasn't paid Company A. In reality, Supplier B frequently owes Customer C! Everyone sits in paralyzed default waiting for external fiat wires to make an absurd, slow round trip.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PROBLEM 02 // MARKET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Traditional Factoring is Broken &amp; Predatory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Why traditional financial institutions fail SMEs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❌ THE FACTORING FAILURE MODES</a:t>
            </a:r>
            <a:br/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Usurious Cost: 2.5% to 5.0% per 30-day invoice translates to an annualized 30% to 60% APR.</a:t>
            </a:r>
            <a:br/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Blind Underwriting: Lenders rely on 12–18 month old filed annual reports and stale credit bureau scores.</a:t>
            </a:r>
            <a:br/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Massive Fraud Vulnerability: Financiers cannot see inside the buyer's ledger, leading to fake invoices, circular billing, and Greensill-style collapses.</a:t>
            </a:r>
            <a:br/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Customer Stigma &amp; Friction: Demands embarrassing debtor notification letters, phone verification calls, and invasive lien filings.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🏛️ THE STRUCTURAL FLAW: OUTSIDE THE LEDGER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Traditional financiers sit outside the company. Because they lack real-time write-access to the ERP, they have zero visibility into:</a:t>
            </a:r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  1. No real-time bank cash balance (PSD2)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  2. No direct buyer accounts payable attestation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  3. No live government tax arrears telemetry (Skattekonto)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  4. No multi-party supply chain trade netting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THESIS // HISTORICAL PARALLEL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What Dee Hock Built for Consumer Retail in 1958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Consumer commerce had the exact same gridlock 65 years ago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657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1950s: BILATERAL STORE CREDIT</a:t>
            </a:r>
            <a:br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Fragmented, High-Risk Store Books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Every merchant (Sears, local grocers, gas stations) maintained individual customer ledgers. Merchants took 100% of customer default risk, and consumers carried dozens of separate credit cards.</a:t>
            </a:r>
            <a:br/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Outcome: Inefficient, localized, high default rate, zero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36576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1970+: VISA MULTILATERAL CLEARING</a:t>
            </a:r>
            <a:br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The Universal Settlement Protocol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BankAmericard (VISA) unified all merchants and consumers into a single clearinghouse. Credit was decoupled from individual merchants; transactions were netted multilaterally; settlements cleared in seconds.</a:t>
            </a:r>
            <a:br/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Outcome: A $14 Trillion/year network with 50%+ operating margins.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07040" cy="82296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Why didn't B2B get its VISA? Because 2.5% card fees are impossible on $100k orders, and companies cannot migrate ERPs. Accounted solves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SOLUTION // THE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Accounted Network: The Ledger-Native Rail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Turning existing ERPs into connected VISA terminals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01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Zero-Migration Companion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Plugs via OAuth API directly into existing ERPs (Fortnox, Visma, Xero, NetSuite) in 60 seconds. CFOs change zero daily habits.</a:t>
            </a:r>
            <a:br/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Live BAS 1510 / 2440 Sync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2800" b="1">
                <a:solidFill>
                  <a:srgbClr val="14B8A6"/>
                </a:solidFill>
              </a:defRPr>
            </a:pPr>
            <a:r>
              <a:t>02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Multilateral Netting Engine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Graph algorithm detects circular debt loops (A -&gt; B -&gt; C -&gt; A) and instantly cancels gross liabilities without cash leaving the bank.</a:t>
            </a:r>
            <a:br/>
          </a:p>
          <a:p>
            <a:pPr>
              <a:defRPr sz="1100" b="1">
                <a:solidFill>
                  <a:srgbClr val="14B8A6"/>
                </a:solidFill>
              </a:defRPr>
            </a:pPr>
            <a:r>
              <a:t>Up to 70% Debt Cancelled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03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Anchor Treasury Liquidity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Instant 10-second cash advances funded directly by enterprise buyer corporate treasuries, earning 8% APY with zero platform debt.</a:t>
            </a:r>
            <a:br/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Self-Funding Supply Chains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07040" cy="6400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⚡ AUTOMATIC RECONCILIATION: Generates balanced double-entry vouchers (Debit 2440, Credit 1510) into the host ERP with 0.00 difference.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MECHANISM 01 // NETTING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Creating Liquidity Out of Thin Air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How algorithmic multilateral netting eliminates 87.5% of external cash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TRADITIONAL GROSS SETTLEMENT</a:t>
            </a:r>
            <a:br/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Contractor A owes Subcontractor B:  60 000 SEK</a:t>
            </a:r>
            <a:br/>
            <a:r>
              <a:t>Subcontractor B owes Material Supplier C:  60 000 SEK</a:t>
            </a:r>
            <a:br/>
            <a:r>
              <a:t>Material Supplier C owes Contractor A:  40 000 SEK</a:t>
            </a:r>
            <a:br/>
            <a:br/>
          </a:p>
          <a:p>
            <a:pPr>
              <a:defRPr sz="1600" b="1">
                <a:solidFill>
                  <a:srgbClr val="EF4444"/>
                </a:solidFill>
              </a:defRPr>
            </a:pPr>
            <a:r>
              <a:t>Total Gross Cash Required: 160 000 SEK</a:t>
            </a:r>
            <a:br/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⚠️ 3 separate wire transfers, bank fees, 60 days of waiting, and triple default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ACCOUNTED MULTILATERAL NETTING</a:t>
            </a:r>
            <a:br/>
          </a:p>
          <a:p>
            <a:pPr>
              <a:defRPr sz="1200">
                <a:solidFill>
                  <a:srgbClr val="10B981"/>
                </a:solidFill>
              </a:defRPr>
            </a:pPr>
            <a:r>
              <a:t>Contractor A liability:  0 SEK (Fully Extinguished)</a:t>
            </a:r>
            <a:br/>
            <a:r>
              <a:t>Material Supplier C liability:  0 SEK (Fully Extinguished)</a:t>
            </a:r>
            <a:br/>
            <a:r>
              <a:t>Subcontractor B residual payable:  20 000 SEK Net</a:t>
            </a:r>
            <a:br/>
            <a:br/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External Cash Required to Settle: Only 20 000 SEK</a:t>
            </a:r>
            <a:br/>
            <a:br/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✓ 140 000 SEK in gross debt erased. Systemic counterparty risk reduced by 87.5%.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MECHANISM 02 // FOUNDATIONAL SETTLEMENT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'Collect First, Disburse Later' (PvP Clearing)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Eliminating platform credit risk and external debt through Asymmetric Settlement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39319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DAY 20</a:t>
            </a:r>
            <a:br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Netting Optimization</a:t>
            </a:r>
            <a:br/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Graph engine computes all circular cancellations. Up to 70% of gross liabilities are wiped out with zero cash moving.</a:t>
            </a:r>
            <a:br/>
            <a:br/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$0 Cash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39319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14B8A6"/>
                </a:solidFill>
              </a:defRPr>
            </a:pPr>
            <a:r>
              <a:t>DAY 25 (T+0)</a:t>
            </a:r>
            <a:br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Inbound Collection</a:t>
            </a:r>
            <a:br/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Autogiro &amp; SEPA Direct Debit initiates from Net Debtors. Funds land securely in an authorized segregated escrow custodian (Klientmedelskonto).</a:t>
            </a:r>
            <a:br/>
            <a:br/>
          </a:p>
          <a:p>
            <a:pPr>
              <a:defRPr sz="1000" b="1">
                <a:solidFill>
                  <a:srgbClr val="14B8A6"/>
                </a:solidFill>
              </a:defRPr>
            </a:pPr>
            <a:r>
              <a:t>Cash Received in Full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14600" cy="39319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DAY 26–27 (T+1 to T+2)</a:t>
            </a:r>
            <a:br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Irrevocable Float</a:t>
            </a:r>
            <a:br/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Inbound funds clear irrevocably. Zero clawback risk. Capital generates risk-free central bank deposit float (3.0%–3.5%).</a:t>
            </a:r>
            <a:br/>
            <a:br/>
          </a:p>
          <a:p>
            <a:pPr>
              <a:defRPr sz="1000" b="1">
                <a:solidFill>
                  <a:srgbClr val="06B6D4"/>
                </a:solidFill>
              </a:defRPr>
            </a:pPr>
            <a:r>
              <a:t>100% Margin Float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14600" cy="39319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DAY 28 (T+3)</a:t>
            </a:r>
            <a:br/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Outbound Payout</a:t>
            </a:r>
            <a:br/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Automated payouts disburse to Net Creditors. Balanced BAS Serie A vouchers post back into Fortnox/Visma with 0.00 difference.</a:t>
            </a:r>
            <a:br/>
            <a:br/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Zero Default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607040" cy="59436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🛡️ ZERO DEBT ENGINE: Because payouts are funded by verified collections 48h prior, Accounted requires $0 in external debt warehouse 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MECHANISM 03 // LIQUIDITY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The Anchor Treasury Engine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Self-funding early payouts while turning enterprise CFOs into viral platform champions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14B8A6"/>
                </a:solidFill>
              </a:defRPr>
            </a:pPr>
            <a:r>
              <a:t>THE PROBLEM WITH EARLY DRAWDOWNS</a:t>
            </a:r>
            <a:br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What if a supplier needs cash on Day 10?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Scheduled monthly settlement clears on the 28th. But subcontractors frequently need payroll cash on Day 10. Traditional fintechs borrow from expensive 8% debt funds to front this money.</a:t>
            </a:r>
            <a:br/>
            <a:br/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The Accounted Breakthrough: We route early cashouts to the Anchor Buyer's Corporate Treasury.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CORPORATE TREASURY ARBITRAGE</a:t>
            </a:r>
            <a:br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Earning 8%–10% APY on Idle AP Cash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Enterprise buyers (e.g. Skanska, Peab) currently earn ~2.5% in commercial bank deposits. By funding early payouts to their own verified suppliers, the Anchor earns a 1% discount on 15-day turnover:</a:t>
            </a:r>
            <a:br/>
            <a:br/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1.0% in 15 days = ~24% Annualized Return on Idle Cash!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607040" cy="6400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🚀 THE VIRAL MANDATE: Anchor CFOs actively mandate all 100–500 suppliers join Accounted to capture treasury yield across their entire vendor 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MECHANISM 04 // CAPITAL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The 4-Layer Liquidity Waterfall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Guaranteed 10-second cashouts with an ultra-low blended cost of capital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100584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300" b="1">
                <a:solidFill>
                  <a:srgbClr val="94A3B8"/>
                </a:solidFill>
              </a:defRPr>
            </a:pPr>
            <a:r>
              <a:t>Layer 1: Multilateral Netting   |   Cost: 0.0% Capital Cost</a:t>
            </a:r>
            <a:br/>
          </a:p>
          <a:p>
            <a:pPr>
              <a:defRPr sz="1100">
                <a:solidFill>
                  <a:srgbClr val="FFFFFF"/>
                </a:solidFill>
              </a:defRPr>
            </a:pPr>
            <a:r>
              <a:t>Extinguishes 40%–70% of gross liabilities mathematically with zero cash.  ($0 Cash Movement)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07040" cy="100584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Layer 2: Anchor Treasury Self-Funding   |   Cost: 0.0% Cost to Accounted</a:t>
            </a:r>
            <a:br/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Anchor buyer funds own verified suppliers for 8% APY treasury yield.  (Anchor Earns Fee)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07040" cy="100584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Layer 3: Network Pre-Payer Pool   |   Cost: ~1.5% Rebate Cost</a:t>
            </a:r>
            <a:br/>
          </a:p>
          <a:p>
            <a:pPr>
              <a:defRPr sz="1100">
                <a:solidFill>
                  <a:srgbClr val="FFFFFF"/>
                </a:solidFill>
              </a:defRPr>
            </a:pPr>
            <a:r>
              <a:t>Net debtors receive fee rebates for settling 10 days early, funding outgoing advances.  (Funded by Float)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07040" cy="100584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Layer 4: Institutional SPV Backstop   |   Cost: STIBOR + 350 bps</a:t>
            </a:r>
            <a:br/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Small high-velocity credit warehouse facility to guarantee 100% SLA uptime.  (100% SLA Guarantee)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UNDERWRITING // STRUCTURAL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Why Our Default Loss Rate Approaches Zero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How we offer 1.0% fees profitably while banks struggle to break even at 4.0%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8288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01  Zero-Fraud Ledger Attestation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Invoices are only eligible for cash advances after the debtor has entered, matched, and approved them in their accounts payable ledger (supplierStatus === 'approved'). Fake invoices and invoice disputes are structurally impossible.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18288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02  Real-Time First-Party GL Telemetry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Continuous read-access to live bank balances (PSD2 open banking), customer receivables aging (1510), and equity ratios (2080). Risk is assessed every 60 seconds, not once a year via outdated filed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120640" cy="18288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03  Self-Collateralizing Trade Graph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 a two-way trading network, if a borrower delays repayment, subsequent incoming receivables from any network peer are automatically intercepted and offset before funds leave the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120640" cy="182880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04  Skattekonto Early-Warning Radar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 Sweden &amp; Europe, unpaid tax on the government tax account (BAS 1630) is the #1 leading indicator of bankruptcy. We detect tax arrears weeks before external credit bureaus register a default.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607040" cy="59436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Traditional Factoring Loss Rate: 2.4%  vs  Accounted Expected Loss Rate: &lt; 0.05%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NETWORK EFFECTS // THE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The Dual-Role B2B Flywheel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Why B2B network effects are exponentially more potent than B2C card networks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ENGINE 01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The Dual-Role Asymmetry</a:t>
            </a:r>
            <a:br/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 B2C, consumers only buy; merchants only sell. In B2B, 100% of participants have both AR and AP. Every onboarded supplier brings 20 to 100 downstream vendors into the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14B8A6"/>
                </a:solidFill>
              </a:defRPr>
            </a:pPr>
            <a:r>
              <a:t>ENGINE 02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Viral Bill-To-Join (Negative CAC)</a:t>
            </a:r>
            <a:br/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When Node A approves an invoice, Supplier B receives an alert: 'Your 100k SEK invoice is approved. Net it against your suppliers or withdraw cash in 10s.' Conversion exceeds 40%.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832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ENGINE 03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Liquidity Density (Metcalfe²)</a:t>
            </a:r>
            <a:br/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At 10 nodes, 10% of trade is nettable. At 1,000 nodes, over 70% of trade clears with zero fiat cash. Staying outside the network imposes a 300 bps working capital penalty.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07040" cy="6400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THE FLYWHEEL LOOP: Anchor Buyer Onboards -&gt; Subcontractors Join -&gt; Subcontractors Net Downstream -&gt; Viral K-Factor &gt; 2.4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GO-TO-MARKET //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The 3-Stage Trojan Horse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Never ask a CFO to replace their accounting software on day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STAGE 01 (DAY 1)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The ERP Companion</a:t>
            </a:r>
            <a:br/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Keep Fortnox / Visma / Xero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Connect via OAuth in 60s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behavioral disruption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Immediate netting &amp; liquidity</a:t>
            </a:r>
          </a:p>
          <a:p>
            <a:br/>
            <a:pPr>
              <a:defRPr sz="1100" b="1">
                <a:solidFill>
                  <a:srgbClr val="10B981"/>
                </a:solidFill>
              </a:defRPr>
            </a:pPr>
            <a:r>
              <a:t>Zero Enterprise Sales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14B8A6"/>
                </a:solidFill>
              </a:defRPr>
            </a:pPr>
            <a:r>
              <a:t>STAGE 02 (DAY 90)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The Clearing Routine</a:t>
            </a:r>
            <a:br/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Automated 1st-of-month netting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Anchor Treasury dynamic yield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Multi-month installments (BAS 2840)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Counterparty viral invitations</a:t>
            </a:r>
          </a:p>
          <a:p>
            <a:br/>
            <a:pPr>
              <a:defRPr sz="1100" b="1">
                <a:solidFill>
                  <a:srgbClr val="14B8A6"/>
                </a:solidFill>
              </a:defRPr>
            </a:pPr>
            <a:r>
              <a:t>High Retention &amp; Habit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832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03 (YEAR 2)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The Full AI ERP Suite</a:t>
            </a:r>
            <a:br/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Upgrade to Accounted 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Autonomous AI bookkeeping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Real-time bank integrations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Full displacement of legacy ERPs</a:t>
            </a:r>
          </a:p>
          <a:p>
            <a:br/>
            <a:pPr>
              <a:defRPr sz="1100" b="1">
                <a:solidFill>
                  <a:srgbClr val="FFFFFF"/>
                </a:solidFill>
              </a:defRPr>
            </a:pPr>
            <a:r>
              <a:t>Maximum Enterprise LTV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07040" cy="6400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💡 Sales velocity is 10x faster because we sell working capital and instant liquidity, not an IT software migration project.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BUSINESS MODEL //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High-Margin B2B 'Interchange'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5 synergistic revenue streams pairing SaaS with high-velocity clearing tolls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Stream 1</a:t>
            </a:r>
            <a:br/>
          </a:p>
          <a:p>
            <a:pPr>
              <a:defRPr sz="2200" b="1">
                <a:solidFill>
                  <a:srgbClr val="10B981"/>
                </a:solidFill>
              </a:defRPr>
            </a:pPr>
            <a:r>
              <a:t>1.00%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Drawdown Fee</a:t>
            </a:r>
            <a:br/>
            <a:br/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Flat fee on accelerated receivables (18%–24% annualized capital return).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645920"/>
            <a:ext cx="20116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Stream 2</a:t>
            </a:r>
            <a:br/>
          </a:p>
          <a:p>
            <a:pPr>
              <a:defRPr sz="2200" b="1">
                <a:solidFill>
                  <a:srgbClr val="14B8A6"/>
                </a:solidFill>
              </a:defRPr>
            </a:pPr>
            <a:r>
              <a:t>0.15%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Netting Toll</a:t>
            </a:r>
            <a:br/>
            <a:br/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Fee on gross debt extinguished without cash movement. High pure-margin software toll.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20116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Stream 3 (New)</a:t>
            </a:r>
            <a:br/>
          </a:p>
          <a:p>
            <a:pPr>
              <a:defRPr sz="2200" b="1">
                <a:solidFill>
                  <a:srgbClr val="10B981"/>
                </a:solidFill>
              </a:defRPr>
            </a:pPr>
            <a:r>
              <a:t>3.25%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Escrow Float</a:t>
            </a:r>
            <a:br/>
            <a:br/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Risk-free central bank interest earned during 48–72h clearing buffer.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645920"/>
            <a:ext cx="20116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Stream 4</a:t>
            </a:r>
            <a:br/>
          </a:p>
          <a:p>
            <a:pPr>
              <a:defRPr sz="2200" b="1">
                <a:solidFill>
                  <a:srgbClr val="06B6D4"/>
                </a:solidFill>
              </a:defRPr>
            </a:pPr>
            <a:r>
              <a:t>1.25%–3.2%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Installments</a:t>
            </a:r>
            <a:br/>
            <a:br/>
          </a:p>
          <a:p>
            <a:pPr>
              <a:defRPr sz="1000">
                <a:solidFill>
                  <a:srgbClr val="94A3B8"/>
                </a:solidFill>
              </a:defRPr>
            </a:pPr>
            <a:r>
              <a:t>2, 3, or 4-month installment financing fees on net payables (BAS 2840).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645920"/>
            <a:ext cx="20116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Stream 5</a:t>
            </a:r>
            <a:br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€49–€499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SaaS Sub</a:t>
            </a:r>
            <a:br/>
            <a:br/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Monthly tier for treasury automation and multi-entity ERP sync.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07040" cy="6400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Blended Unit Economics: CAC &lt; $85  |  Payback &lt; 2 months  |  Gross Margin &gt; 85%  |  LTV / CAC &gt; 18x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MARKET SIZE // TAM SAM SOM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A Trillion-Dollar Global Settlement Pool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Targeting the massive gap in enterprise B2B payments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TAM</a:t>
            </a:r>
            <a:br/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$120 Trillion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Global B2B Payments</a:t>
            </a:r>
            <a:br/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The total annual volume of invoice payments between businesses worldwide across all sectors.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3832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14B8A6"/>
                </a:solidFill>
              </a:defRPr>
            </a:pPr>
            <a:r>
              <a:t>SAM</a:t>
            </a:r>
            <a:br/>
          </a:p>
          <a:p>
            <a:pPr>
              <a:defRPr sz="2800" b="1">
                <a:solidFill>
                  <a:srgbClr val="14B8A6"/>
                </a:solidFill>
              </a:defRPr>
            </a:pPr>
            <a:r>
              <a:t>$18 Trillion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European SME B2B Trade</a:t>
            </a:r>
            <a:br/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Annual trade credit flow between European SMEs, representing $450B in working capital financing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383280" cy="38404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INITIAL BEACHHEAD (SOM)</a:t>
            </a:r>
            <a:br/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$320 Billion</a:t>
            </a:r>
            <a:br/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Nordic B2B Ecosystem</a:t>
            </a:r>
            <a:br/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Sweden, Norway, Denmark, Finland. 1.2M registered businesses with 70%+ concentrated on Fortnox and Visma.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07040" cy="64008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📍 Nordic Advantage: 100% digital business registries, BankID identity, standard BAS chart of accounts, and high ERP digital maturity.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COMPETITION //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Why Incumbents Cannot Replicate Us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Comparing settlement mechanisms across financial rails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070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011680"/>
                <a:gridCol w="2011680"/>
                <a:gridCol w="2194560"/>
              </a:tblGrid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Banks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Factoring Fintechs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Card Networks (Visa B2B)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Accounted Network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Multilateral Netting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✓ Algorithmic (Up to 70%)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Liquidity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Expensive Bank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Credit Fund Lines (8%)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Card Credit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✓ Anchor Treasury (Self-Funded)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Clearing Solvency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High Credit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High Default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Chargeback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✓ Collect First, Disburse (PvP)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Effective 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3.0% – 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2.5% – 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2.0% – 3.0% interchange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✓ 1.0% Flat Fee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Reconciliation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Manual month-end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Manual file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Statement matching mess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✓ Auto Serie A Verifikation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Helvetica"/>
              </a:defRPr>
            </a:pPr>
            <a:r>
              <a:t>INVESTMENT // THE OFFERING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elvetica"/>
              </a:defRPr>
            </a:pPr>
            <a:r>
              <a:t>The Ask: $4.0M Seed / Series A</a:t>
            </a:r>
          </a:p>
          <a:p>
            <a:pPr>
              <a:defRPr sz="1300">
                <a:solidFill>
                  <a:srgbClr val="94A3B8"/>
                </a:solidFill>
                <a:latin typeface="Helvetica"/>
              </a:defRPr>
            </a:pPr>
            <a:r>
              <a:t>High capital efficiency: equity funds software &amp; distribution, not expensive debt facilities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 OF PROCEEDS</a:t>
            </a:r>
            <a:br/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40% ($1.6M) — ERP Connector Engineering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Visma, Xero, QuickBooks, SAP certified integrations</a:t>
            </a:r>
            <a:br/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30% ($1.2M) — Anchor Enterprise Acquisition &amp; GTM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Contractor clusters and supply chain virality engine</a:t>
            </a:r>
            <a:br/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18% ($720k) — SPV Warehouse Backstop &amp; Buffer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High-velocity debt facility for 100% SLA guarantee</a:t>
            </a:r>
            <a:br/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12% ($480k) — Regulatory &amp; Escrow Compliance</a:t>
            </a:r>
            <a:br/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Authorized segregated escrow custody under Swedish Lag 1944:181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31C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18-MONTH TARGET OUTCOMES</a:t>
            </a:r>
            <a:br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$100M+ Netting &amp; Clearing Run-Rate</a:t>
            </a:r>
            <a:br/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Achieving critical liquidity density across 2,500 active SME nodes, demonstrating negative customer acquisition cost through organic viral counterparty bill-to-join loops and Anchor Treasury self-funding.</a:t>
            </a:r>
            <a:br/>
            <a:br/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Live Interactive Production Demo: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accounted-production.vercel.app/demo/fortnox-companion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