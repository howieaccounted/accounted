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822960"/>
            <a:ext cx="3962095" cy="411480"/>
          </a:xfrm>
          <a:prstGeom prst="roundRect">
            <a:avLst/>
          </a:prstGeom>
          <a:solidFill>
            <a:srgbClr val="F1F7F3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accounted. — B2B SETTLEMENT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71717"/>
                </a:solidFill>
                <a:latin typeface="Georgia"/>
              </a:defRPr>
            </a:pPr>
            <a:r>
              <a:t>The VISA Rail for Global B2B Invoicing</a:t>
            </a:r>
          </a:p>
          <a:p>
            <a:pPr algn="ctr">
              <a:defRPr sz="1400">
                <a:solidFill>
                  <a:srgbClr val="66625C"/>
                </a:solidFill>
                <a:latin typeface="Helvetica"/>
              </a:defRPr>
            </a:pPr>
            <a:r>
              <a:t>Decoupling enterprise commerce from 60-day debt gridlock through decentralized ERP clearing,</a:t>
            </a:r>
            <a:br/>
            <a:r>
              <a:t>algorithmic netting, and zero-debt self-funding liquidity.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3200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000" b="1">
                <a:solidFill>
                  <a:srgbClr val="66625C"/>
                </a:solidFill>
              </a:defRPr>
            </a:pPr>
            <a:r>
              <a:t>THE MACRO MARKET</a:t>
            </a:r>
            <a:br/>
          </a:p>
          <a:p>
            <a:pPr>
              <a:defRPr sz="2800" b="1">
                <a:solidFill>
                  <a:srgbClr val="171717"/>
                </a:solidFill>
                <a:latin typeface="Georgia"/>
              </a:defRPr>
            </a:pPr>
            <a:r>
              <a:t>$120 Trillion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Global B2B payment volume trapped in 54-day DSO bilateral gridlock.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840480"/>
            <a:ext cx="3200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000" b="1">
                <a:solidFill>
                  <a:srgbClr val="225E42"/>
                </a:solidFill>
              </a:defRPr>
            </a:pPr>
            <a:r>
              <a:t>FOUNDATIONAL RAIL</a:t>
            </a:r>
            <a:br/>
          </a:p>
          <a:p>
            <a:pPr>
              <a:defRPr sz="2800" b="1">
                <a:solidFill>
                  <a:srgbClr val="225E42"/>
                </a:solidFill>
                <a:latin typeface="Georgia"/>
              </a:defRPr>
            </a:pPr>
            <a:r>
              <a:t>Asymmetric PvP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Collect first, disburse later: $0 external debt required to clear scheduled netting.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840480"/>
            <a:ext cx="3200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000" b="1">
                <a:solidFill>
                  <a:srgbClr val="A65A24"/>
                </a:solidFill>
              </a:defRPr>
            </a:pPr>
            <a:r>
              <a:t>THE VIRAL ENGINE</a:t>
            </a:r>
            <a:br/>
          </a:p>
          <a:p>
            <a:pPr>
              <a:defRPr sz="2800" b="1">
                <a:solidFill>
                  <a:srgbClr val="A65A24"/>
                </a:solidFill>
                <a:latin typeface="Georgia"/>
              </a:defRPr>
            </a:pPr>
            <a:r>
              <a:t>Anchor Treasury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Corporate buyers earn 8%–10% APY by funding their own suppliers early.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MACRO REALITY // MARKET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The $120T B2B Liquidity Chokehold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3x larger than all consumer card payments combined, yet running on 1970s primitives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3200" b="1">
                <a:solidFill>
                  <a:srgbClr val="B91C1C"/>
                </a:solidFill>
                <a:latin typeface="Georgia"/>
              </a:defRPr>
            </a:pPr>
            <a:r>
              <a:t>54 Days</a:t>
            </a:r>
            <a:br/>
          </a:p>
          <a:p>
            <a:pPr>
              <a:defRPr sz="1300" b="1">
                <a:solidFill>
                  <a:srgbClr val="171717"/>
                </a:solidFill>
              </a:defRPr>
            </a:pPr>
            <a:r>
              <a:t>Average Global DSO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Suppliers deliver goods today but wait 2 to 3 months to be paid. Meanwhile, payroll, VAT, and rent must be paid in cash on day 30.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3200" b="1">
                <a:solidFill>
                  <a:srgbClr val="A65A24"/>
                </a:solidFill>
                <a:latin typeface="Georgia"/>
              </a:defRPr>
            </a:pPr>
            <a:r>
              <a:t>$3.1 Trillion</a:t>
            </a:r>
            <a:br/>
          </a:p>
          <a:p>
            <a:pPr>
              <a:defRPr sz="1300" b="1">
                <a:solidFill>
                  <a:srgbClr val="171717"/>
                </a:solidFill>
              </a:defRPr>
            </a:pPr>
            <a:r>
              <a:t>Trapped Working Capital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Capital frozen in unpaid accounts receivable at any given hour. Large enterprises use SME supplier balance sheets as free credit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3200" b="1">
                <a:solidFill>
                  <a:srgbClr val="171717"/>
                </a:solidFill>
                <a:latin typeface="Georgia"/>
              </a:defRPr>
            </a:pPr>
            <a:r>
              <a:t>95%</a:t>
            </a:r>
            <a:br/>
          </a:p>
          <a:p>
            <a:pPr>
              <a:defRPr sz="1300" b="1">
                <a:solidFill>
                  <a:srgbClr val="171717"/>
                </a:solidFill>
              </a:defRPr>
            </a:pPr>
            <a:r>
              <a:t>Archaic Paper &amp; PDF Rails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Consumer payments moved to instant card clearing in seconds. B2B payments still run on static PDFs, manual IBAN wires, and email chasing.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07040" cy="1645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100" b="1">
                <a:solidFill>
                  <a:srgbClr val="B91C1C"/>
                </a:solidFill>
              </a:defRPr>
            </a:pPr>
            <a:r>
              <a:t>⚠️ THE BILATERAL GRIDLOCK PARADOX</a:t>
            </a:r>
            <a:br/>
          </a:p>
          <a:p>
            <a:pPr>
              <a:defRPr sz="1200">
                <a:solidFill>
                  <a:srgbClr val="171717"/>
                </a:solidFill>
              </a:defRPr>
            </a:pPr>
            <a:r>
              <a:t>Company A cannot pay Supplier B because Customer C hasn't paid Company A. In reality, Supplier B frequently owes Customer C! Everyone sits in paralyzed default waiting for external fiat wires to make an absurd, slow round trip.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CORE THESIS // NON-CONSENSUS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The Non-Consensus Secret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What we understand about B2B settlement that the rest of fintech misses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100" b="1">
                <a:solidFill>
                  <a:srgbClr val="66625C"/>
                </a:solidFill>
              </a:defRPr>
            </a:pPr>
            <a:r>
              <a:t>THE CONSENSUS VIEW (WHERE OTHERS PLAY)</a:t>
            </a:r>
            <a:br/>
          </a:p>
          <a:p>
            <a:pPr>
              <a:defRPr sz="1800" b="1">
                <a:solidFill>
                  <a:srgbClr val="171717"/>
                </a:solidFill>
                <a:latin typeface="Georgia"/>
              </a:defRPr>
            </a:pPr>
            <a:r>
              <a:t>'B2B Payments is a Wire Speed Problem'</a:t>
            </a:r>
            <a:br/>
          </a:p>
          <a:p>
            <a:pPr>
              <a:defRPr sz="1200">
                <a:solidFill>
                  <a:srgbClr val="66625C"/>
                </a:solidFill>
              </a:defRPr>
            </a:pPr>
            <a:r>
              <a:t>Legacy fintech startups focus on building faster payment pipes: virtual cards, invoice OCR scanning, cross-border remittance, and invoice factoring.</a:t>
            </a:r>
            <a:br/>
            <a:br/>
            <a:r>
              <a:t>They accept the premise that every invoice must result in a gross fiat bank wire from Buyer to Seller.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100" b="1">
                <a:solidFill>
                  <a:srgbClr val="225E42"/>
                </a:solidFill>
              </a:defRPr>
            </a:pPr>
            <a:r>
              <a:t>ACCOUNTED'S NON-CONSENSUS TRUTH</a:t>
            </a:r>
            <a:br/>
          </a:p>
          <a:p>
            <a:pPr>
              <a:defRPr sz="1800" b="1">
                <a:solidFill>
                  <a:srgbClr val="171717"/>
                </a:solidFill>
                <a:latin typeface="Georgia"/>
              </a:defRPr>
            </a:pPr>
            <a:r>
              <a:t>Moving Cash is an Architectural Failure Mode</a:t>
            </a:r>
            <a:br/>
          </a:p>
          <a:p>
            <a:pPr>
              <a:defRPr sz="1200">
                <a:solidFill>
                  <a:srgbClr val="171717"/>
                </a:solidFill>
              </a:defRPr>
            </a:pPr>
            <a:r>
              <a:t>In an economy of interconnected ERPs, 60% of B2B liabilities can be mathematically cancelled through multilateral graph netting before fiat cash ever moves.</a:t>
            </a:r>
            <a:br/>
            <a:br/>
            <a:r>
              <a:t>Furthermore, the cheapest liquidity in the world isn't bank debt—it is the $1.8T in idle corporate cash already sitting on buyer balance sheets earning near-zero returns.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MACRO TIMING // 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The 4 Irreversible Macro Catalysts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Why this breakthrough could not have been built 5 years ago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A65A24"/>
                </a:solidFill>
              </a:defRPr>
            </a:pPr>
            <a:r>
              <a:t>01  High-For-Longer Base Rates (3.5%–5%)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In a zero-interest-rate world (ZIRP), CFOs ignored 60-day DSO. At 4%+ base rates, working capital drag is suddenly the board's #1 existential priority.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225E42"/>
                </a:solidFill>
              </a:defRPr>
            </a:pPr>
            <a:r>
              <a:t>02  Cloud ERP API Standardization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Accounting data shifted permanently from isolated on-premise desktop files (.SIE) into continuous REST APIs (Fortnox, Visma, Xero, NetSuite).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171717"/>
                </a:solidFill>
              </a:defRPr>
            </a:pPr>
            <a:r>
              <a:t>03  PSD2 Open Banking Maturity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Programmatic read/write access to commercial bank accounts (Enable Banking / SEPA Instant / Autogiro) is finally stable and standardized across Europe.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225E42"/>
                </a:solidFill>
              </a:defRPr>
            </a:pPr>
            <a:r>
              <a:t>04  The Autonomous Agentic Wave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AI software agents are taking over corporate finance. Autonomous agents cannot write checks or call factoring brokers; they need an API-native settlement protocol.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HISTORICAL ANALOGY // THE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What Dee Hock Built for Consumer Retail in 1958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Consumer commerce had the exact same gridlock 65 years ago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100" b="1">
                <a:solidFill>
                  <a:srgbClr val="A65A24"/>
                </a:solidFill>
              </a:defRPr>
            </a:pPr>
            <a:r>
              <a:t>1950s: BILATERAL STORE CREDIT</a:t>
            </a:r>
            <a:br/>
          </a:p>
          <a:p>
            <a:pPr>
              <a:defRPr sz="1800" b="1">
                <a:solidFill>
                  <a:srgbClr val="171717"/>
                </a:solidFill>
                <a:latin typeface="Georgia"/>
              </a:defRPr>
            </a:pPr>
            <a:r>
              <a:t>Fragmented, High-Risk Store Books</a:t>
            </a:r>
            <a:br/>
          </a:p>
          <a:p>
            <a:pPr>
              <a:defRPr sz="1150">
                <a:solidFill>
                  <a:srgbClr val="66625C"/>
                </a:solidFill>
              </a:defRPr>
            </a:pPr>
            <a:r>
              <a:t>Every merchant (Sears, local grocers, gas stations) maintained individual customer ledgers. Merchants took 100% of customer default risk, and consumers carried dozens of separate credit cards.</a:t>
            </a:r>
            <a:br/>
          </a:p>
          <a:p>
            <a:pPr>
              <a:defRPr sz="1100" b="1">
                <a:solidFill>
                  <a:srgbClr val="A65A24"/>
                </a:solidFill>
              </a:defRPr>
            </a:pPr>
            <a:r>
              <a:t>Outcome: Inefficient, localized, high default rate, zero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100" b="1">
                <a:solidFill>
                  <a:srgbClr val="225E42"/>
                </a:solidFill>
              </a:defRPr>
            </a:pPr>
            <a:r>
              <a:t>1970+: VISA MULTILATERAL CLEARING</a:t>
            </a:r>
            <a:br/>
          </a:p>
          <a:p>
            <a:pPr>
              <a:defRPr sz="1800" b="1">
                <a:solidFill>
                  <a:srgbClr val="171717"/>
                </a:solidFill>
                <a:latin typeface="Georgia"/>
              </a:defRPr>
            </a:pPr>
            <a:r>
              <a:t>The Universal Settlement Protocol</a:t>
            </a:r>
            <a:br/>
          </a:p>
          <a:p>
            <a:pPr>
              <a:defRPr sz="1150">
                <a:solidFill>
                  <a:srgbClr val="66625C"/>
                </a:solidFill>
              </a:defRPr>
            </a:pPr>
            <a:r>
              <a:t>BankAmericard (VISA) unified all merchants and consumers into a single clearinghouse. Credit was decoupled from individual merchants; transactions were netted multilaterally; settlements cleared in seconds.</a:t>
            </a:r>
            <a:br/>
          </a:p>
          <a:p>
            <a:pPr>
              <a:defRPr sz="1100" b="1">
                <a:solidFill>
                  <a:srgbClr val="225E42"/>
                </a:solidFill>
              </a:defRPr>
            </a:pPr>
            <a:r>
              <a:t>Outcome: A $14 Trillion/year network with 50%+ operating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07040" cy="82296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150" b="1">
                <a:solidFill>
                  <a:srgbClr val="171717"/>
                </a:solidFill>
              </a:defRPr>
            </a:pPr>
            <a:r>
              <a:t>Why didn't B2B get its VISA? Because 2.5% card fees are impossible on $100k orders, and companies cannot migrate ERPs. Accounted solves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SOLUTION //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Accounted Network: The Ledger-Native Rail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Turning existing single-player ERPs into connected multiplayer clearing nodes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2800" b="1">
                <a:solidFill>
                  <a:srgbClr val="225E42"/>
                </a:solidFill>
                <a:latin typeface="Georgia"/>
              </a:defRPr>
            </a:pPr>
            <a:r>
              <a:t>01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Zero-Migration Companion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Plugs via OAuth API directly into existing ERPs (Fortnox, Visma, Xero, NetSuite) in 60 seconds. CFOs change zero daily habits.</a:t>
            </a:r>
            <a:br/>
          </a:p>
          <a:p>
            <a:pPr>
              <a:defRPr sz="1100" b="1">
                <a:solidFill>
                  <a:srgbClr val="225E42"/>
                </a:solidFill>
              </a:defRPr>
            </a:pPr>
            <a:r>
              <a:t>Live BAS 1510 / 2440 Sync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2800" b="1">
                <a:solidFill>
                  <a:srgbClr val="225E42"/>
                </a:solidFill>
                <a:latin typeface="Georgia"/>
              </a:defRPr>
            </a:pPr>
            <a:r>
              <a:t>02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Multilateral Netting Engine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Graph algorithm detects circular debt loops (A -&gt; B -&gt; C -&gt; A) and instantly cancels gross liabilities without cash leaving the bank.</a:t>
            </a:r>
            <a:br/>
          </a:p>
          <a:p>
            <a:pPr>
              <a:defRPr sz="1100" b="1">
                <a:solidFill>
                  <a:srgbClr val="225E42"/>
                </a:solidFill>
              </a:defRPr>
            </a:pPr>
            <a:r>
              <a:t>Up to 70% Debt Cancelled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2800" b="1">
                <a:solidFill>
                  <a:srgbClr val="A65A24"/>
                </a:solidFill>
                <a:latin typeface="Georgia"/>
              </a:defRPr>
            </a:pPr>
            <a:r>
              <a:t>03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Anchor Treasury Liquidity</a:t>
            </a:r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Instant 10-second cash advances funded directly by enterprise buyer corporate treasuries, earning 8% APY with zero platform debt.</a:t>
            </a:r>
            <a:br/>
          </a:p>
          <a:p>
            <a:pPr>
              <a:defRPr sz="1100" b="1">
                <a:solidFill>
                  <a:srgbClr val="A65A24"/>
                </a:solidFill>
              </a:defRPr>
            </a:pPr>
            <a:r>
              <a:t>Self-Funding Supply Chains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171717"/>
                </a:solidFill>
              </a:defRPr>
            </a:pPr>
            <a:r>
              <a:t>⚡ AUTOMATIC RECONCILIATION: Generates balanced double-entry vouchers (Debit 2440, Credit 1510) into the host ERP with 0.00 difference.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MECHANISM 01 // NETTING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Creating Liquidity Out of Thin Air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How algorithmic multilateral netting eliminates 87.5% of external cash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B91C1C"/>
                </a:solidFill>
              </a:defRPr>
            </a:pPr>
            <a:r>
              <a:t>TRADITIONAL GROSS SETTLEMENT</a:t>
            </a:r>
            <a:br/>
          </a:p>
          <a:p>
            <a:pPr>
              <a:defRPr sz="1200">
                <a:solidFill>
                  <a:srgbClr val="171717"/>
                </a:solidFill>
              </a:defRPr>
            </a:pPr>
            <a:r>
              <a:t>Contractor A owes Subcontractor B:  60 000 SEK</a:t>
            </a:r>
            <a:br/>
            <a:r>
              <a:t>Subcontractor B owes Material Supplier C:  60 000 SEK</a:t>
            </a:r>
            <a:br/>
            <a:r>
              <a:t>Material Supplier C owes Contractor A:  40 000 SEK</a:t>
            </a:r>
            <a:br/>
            <a:br/>
          </a:p>
          <a:p>
            <a:pPr>
              <a:defRPr sz="1800" b="1">
                <a:solidFill>
                  <a:srgbClr val="B91C1C"/>
                </a:solidFill>
                <a:latin typeface="Georgia"/>
              </a:defRPr>
            </a:pPr>
            <a:r>
              <a:t>Total Gross Cash Required: 160 000 SEK</a:t>
            </a:r>
            <a:br/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⚠️ 3 separate wire transfers, bank fees, 60 days of waiting, and triple default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7F3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225E42"/>
                </a:solidFill>
              </a:defRPr>
            </a:pPr>
            <a:r>
              <a:t>ACCOUNTED MULTILATERAL NETTING</a:t>
            </a:r>
            <a:br/>
          </a:p>
          <a:p>
            <a:pPr>
              <a:defRPr sz="1200">
                <a:solidFill>
                  <a:srgbClr val="225E42"/>
                </a:solidFill>
              </a:defRPr>
            </a:pPr>
            <a:r>
              <a:t>Contractor A liability:  0 SEK (Fully Extinguished)</a:t>
            </a:r>
            <a:br/>
            <a:r>
              <a:t>Material Supplier C liability:  0 SEK (Fully Extinguished)</a:t>
            </a:r>
            <a:br/>
            <a:r>
              <a:t>Subcontractor B residual payable:  20 000 SEK Net</a:t>
            </a:r>
            <a:br/>
            <a:br/>
          </a:p>
          <a:p>
            <a:pPr>
              <a:defRPr sz="1800" b="1">
                <a:solidFill>
                  <a:srgbClr val="225E42"/>
                </a:solidFill>
                <a:latin typeface="Georgia"/>
              </a:defRPr>
            </a:pPr>
            <a:r>
              <a:t>External Cash Required to Settle: Only 20 000 SEK</a:t>
            </a:r>
            <a:br/>
            <a:br/>
          </a:p>
          <a:p>
            <a:pPr>
              <a:defRPr sz="1100" b="1">
                <a:solidFill>
                  <a:srgbClr val="171717"/>
                </a:solidFill>
              </a:defRPr>
            </a:pPr>
            <a:r>
              <a:t>✓ 140 000 SEK in gross debt erased. Systemic counterparty risk reduced by 87.5%.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MECHANISM 02 // FOUNDATIONAL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'Collect First, Disburse Later' (PvP Clearing)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Eliminating platform credit risk and external debt through Asymmetric Settlement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71717"/>
                </a:solidFill>
              </a:defRPr>
            </a:pPr>
            <a:r>
              <a:t>DAY 20</a:t>
            </a:r>
            <a:br/>
          </a:p>
          <a:p>
            <a:pPr>
              <a:defRPr sz="1400" b="1">
                <a:solidFill>
                  <a:srgbClr val="171717"/>
                </a:solidFill>
                <a:latin typeface="Georgia"/>
              </a:defRPr>
            </a:pPr>
            <a:r>
              <a:t>Netting Optimization</a:t>
            </a:r>
            <a:br/>
            <a:br/>
          </a:p>
          <a:p>
            <a:pPr>
              <a:defRPr sz="1050">
                <a:solidFill>
                  <a:srgbClr val="66625C"/>
                </a:solidFill>
              </a:defRPr>
            </a:pPr>
            <a:r>
              <a:t>Graph engine computes all circular cancellations. Up to 70% of gross liabilities are wiped out with zero cash moving.</a:t>
            </a:r>
            <a:br/>
            <a:br/>
          </a:p>
          <a:p>
            <a:pPr>
              <a:defRPr sz="1000" b="1">
                <a:solidFill>
                  <a:srgbClr val="171717"/>
                </a:solidFill>
              </a:defRPr>
            </a:pPr>
            <a:r>
              <a:t>$0 Cash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225E42"/>
                </a:solidFill>
              </a:defRPr>
            </a:pPr>
            <a:r>
              <a:t>DAY 25 (T+0)</a:t>
            </a:r>
            <a:br/>
          </a:p>
          <a:p>
            <a:pPr>
              <a:defRPr sz="1400" b="1">
                <a:solidFill>
                  <a:srgbClr val="171717"/>
                </a:solidFill>
                <a:latin typeface="Georgia"/>
              </a:defRPr>
            </a:pPr>
            <a:r>
              <a:t>Inbound Collection</a:t>
            </a:r>
            <a:br/>
            <a:br/>
          </a:p>
          <a:p>
            <a:pPr>
              <a:defRPr sz="1050">
                <a:solidFill>
                  <a:srgbClr val="66625C"/>
                </a:solidFill>
              </a:defRPr>
            </a:pPr>
            <a:r>
              <a:t>Autogiro &amp; SEPA Direct Debit initiates from Net Debtors. Funds land securely in an authorized segregated escrow custodian (Klientmedelskonto).</a:t>
            </a:r>
            <a:br/>
            <a:br/>
          </a:p>
          <a:p>
            <a:pPr>
              <a:defRPr sz="1000" b="1">
                <a:solidFill>
                  <a:srgbClr val="225E42"/>
                </a:solidFill>
              </a:defRPr>
            </a:pPr>
            <a:r>
              <a:t>Cash Received in Full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A65A24"/>
                </a:solidFill>
              </a:defRPr>
            </a:pPr>
            <a:r>
              <a:t>DAY 26–27 (T+1 to T+2)</a:t>
            </a:r>
            <a:br/>
          </a:p>
          <a:p>
            <a:pPr>
              <a:defRPr sz="1400" b="1">
                <a:solidFill>
                  <a:srgbClr val="171717"/>
                </a:solidFill>
                <a:latin typeface="Georgia"/>
              </a:defRPr>
            </a:pPr>
            <a:r>
              <a:t>Irrevocable Float</a:t>
            </a:r>
            <a:br/>
            <a:br/>
          </a:p>
          <a:p>
            <a:pPr>
              <a:defRPr sz="1050">
                <a:solidFill>
                  <a:srgbClr val="66625C"/>
                </a:solidFill>
              </a:defRPr>
            </a:pPr>
            <a:r>
              <a:t>Inbound funds clear irrevocably. Zero clawback risk. Capital generates risk-free central bank deposit float (3.0%–3.5%).</a:t>
            </a:r>
            <a:br/>
            <a:br/>
          </a:p>
          <a:p>
            <a:pPr>
              <a:defRPr sz="1000" b="1">
                <a:solidFill>
                  <a:srgbClr val="A65A24"/>
                </a:solidFill>
              </a:defRPr>
            </a:pPr>
            <a:r>
              <a:t>100% Margin Float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225E42"/>
                </a:solidFill>
              </a:defRPr>
            </a:pPr>
            <a:r>
              <a:t>DAY 28 (T+3)</a:t>
            </a:r>
            <a:br/>
          </a:p>
          <a:p>
            <a:pPr>
              <a:defRPr sz="1400" b="1">
                <a:solidFill>
                  <a:srgbClr val="171717"/>
                </a:solidFill>
                <a:latin typeface="Georgia"/>
              </a:defRPr>
            </a:pPr>
            <a:r>
              <a:t>Outbound Payout</a:t>
            </a:r>
            <a:br/>
            <a:br/>
          </a:p>
          <a:p>
            <a:pPr>
              <a:defRPr sz="1050">
                <a:solidFill>
                  <a:srgbClr val="66625C"/>
                </a:solidFill>
              </a:defRPr>
            </a:pPr>
            <a:r>
              <a:t>Automated payouts disburse to Net Creditors. Balanced BAS Serie A vouchers post back into Fortnox/Visma with 0.00 difference.</a:t>
            </a:r>
            <a:br/>
            <a:br/>
          </a:p>
          <a:p>
            <a:pPr>
              <a:defRPr sz="1000" b="1">
                <a:solidFill>
                  <a:srgbClr val="225E42"/>
                </a:solidFill>
              </a:defRPr>
            </a:pPr>
            <a:r>
              <a:t>Zero Default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607040" cy="59436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225E42"/>
                </a:solidFill>
              </a:defRPr>
            </a:pPr>
            <a:r>
              <a:t>🛡️ ZERO DEBT ENGINE: Because payouts are funded by verified collections 48h prior, Accounted requires $0 in external debt warehouse 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MECHANISM 03 // LIQUIDITY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The Anchor Treasury Engine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Self-funding early payouts while turning enterprise CFOs into viral platform champions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100" b="1">
                <a:solidFill>
                  <a:srgbClr val="66625C"/>
                </a:solidFill>
              </a:defRPr>
            </a:pPr>
            <a:r>
              <a:t>THE PROBLEM WITH EARLY DRAWDOWNS</a:t>
            </a:r>
            <a:br/>
          </a:p>
          <a:p>
            <a:pPr>
              <a:defRPr sz="1800" b="1">
                <a:solidFill>
                  <a:srgbClr val="171717"/>
                </a:solidFill>
                <a:latin typeface="Georgia"/>
              </a:defRPr>
            </a:pPr>
            <a:r>
              <a:t>What if a supplier needs cash on Day 10?</a:t>
            </a:r>
            <a:br/>
          </a:p>
          <a:p>
            <a:pPr>
              <a:defRPr sz="1150">
                <a:solidFill>
                  <a:srgbClr val="66625C"/>
                </a:solidFill>
              </a:defRPr>
            </a:pPr>
            <a:r>
              <a:t>Scheduled monthly settlement clears on the 28th. But subcontractors frequently need payroll cash on Day 10. Traditional fintechs borrow from expensive 8% debt funds to front this money.</a:t>
            </a:r>
            <a:br/>
            <a:br/>
          </a:p>
          <a:p>
            <a:pPr>
              <a:defRPr sz="1150" b="1">
                <a:solidFill>
                  <a:srgbClr val="171717"/>
                </a:solidFill>
              </a:defRPr>
            </a:pPr>
            <a:r>
              <a:t>The Accounted Breakthrough: We route early cashouts to the Anchor Buyer's Corporate Treasury.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100" b="1">
                <a:solidFill>
                  <a:srgbClr val="225E42"/>
                </a:solidFill>
              </a:defRPr>
            </a:pPr>
            <a:r>
              <a:t>CORPORATE TREASURY ARBITRAGE</a:t>
            </a:r>
            <a:br/>
          </a:p>
          <a:p>
            <a:pPr>
              <a:defRPr sz="1800" b="1">
                <a:solidFill>
                  <a:srgbClr val="171717"/>
                </a:solidFill>
                <a:latin typeface="Georgia"/>
              </a:defRPr>
            </a:pPr>
            <a:r>
              <a:t>Earning 8%–10% APY on Idle AP Cash</a:t>
            </a:r>
            <a:br/>
          </a:p>
          <a:p>
            <a:pPr>
              <a:defRPr sz="1150">
                <a:solidFill>
                  <a:srgbClr val="66625C"/>
                </a:solidFill>
              </a:defRPr>
            </a:pPr>
            <a:r>
              <a:t>Enterprise buyers (e.g. Skanska, Peab, funded startups) currently earn ~2.5% in commercial bank deposits. By funding early payouts to their own verified suppliers, the Anchor earns a 1% discount on 15-day turnover:</a:t>
            </a:r>
            <a:br/>
            <a:br/>
          </a:p>
          <a:p>
            <a:pPr>
              <a:defRPr sz="1400" b="1">
                <a:solidFill>
                  <a:srgbClr val="225E42"/>
                </a:solidFill>
                <a:latin typeface="Georgia"/>
              </a:defRPr>
            </a:pPr>
            <a:r>
              <a:t>1.0% in 15 days = ~24% Annualized Return on Idle Cash!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171717"/>
                </a:solidFill>
              </a:defRPr>
            </a:pPr>
            <a:r>
              <a:t>🚀 THE VIRAL MANDATE: Anchor CFOs actively mandate all 100–500 suppliers join Accounted to capture treasury yield across their entire vendor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MECHANISM 04 // CAPITAL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The 4-Layer Liquidity Waterfall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Guaranteed 10-second cashouts with an ultra-low blended cost of capital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171717"/>
                </a:solidFill>
              </a:defRPr>
            </a:pPr>
            <a:r>
              <a:t>Layer 1: Multilateral Netting   |   Cost: 0.0% Capital Cost</a:t>
            </a:r>
            <a:br/>
          </a:p>
          <a:p>
            <a:pPr>
              <a:defRPr sz="1100">
                <a:solidFill>
                  <a:srgbClr val="171717"/>
                </a:solidFill>
              </a:defRPr>
            </a:pPr>
            <a:r>
              <a:t>Extinguishes 40%–70% of gross liabilities mathematically with zero cash.  ($0 Cash Movement)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07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225E42"/>
                </a:solidFill>
              </a:defRPr>
            </a:pPr>
            <a:r>
              <a:t>Layer 2: Anchor Treasury Self-Funding   |   Cost: 0.0% Cost to Accounted</a:t>
            </a:r>
            <a:br/>
          </a:p>
          <a:p>
            <a:pPr>
              <a:defRPr sz="1100">
                <a:solidFill>
                  <a:srgbClr val="171717"/>
                </a:solidFill>
              </a:defRPr>
            </a:pPr>
            <a:r>
              <a:t>Anchor buyer funds own verified suppliers for 8% APY treasury yield.  (Anchor Earns Fee)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07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A65A24"/>
                </a:solidFill>
              </a:defRPr>
            </a:pPr>
            <a:r>
              <a:t>Layer 3: Network Pre-Payer Pool   |   Cost: ~1.5% Rebate Cost</a:t>
            </a:r>
            <a:br/>
          </a:p>
          <a:p>
            <a:pPr>
              <a:defRPr sz="1100">
                <a:solidFill>
                  <a:srgbClr val="171717"/>
                </a:solidFill>
              </a:defRPr>
            </a:pPr>
            <a:r>
              <a:t>Net debtors receive fee rebates for settling 10 days early, funding outgoing advances.  (Funded by Float)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07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66625C"/>
                </a:solidFill>
              </a:defRPr>
            </a:pPr>
            <a:r>
              <a:t>Layer 4: Institutional SPV Backstop   |   Cost: STIBOR + 350 bps</a:t>
            </a:r>
            <a:br/>
          </a:p>
          <a:p>
            <a:pPr>
              <a:defRPr sz="1100">
                <a:solidFill>
                  <a:srgbClr val="171717"/>
                </a:solidFill>
              </a:defRPr>
            </a:pPr>
            <a:r>
              <a:t>Small high-velocity credit warehouse facility to guarantee 100% SLA uptime.  (100% SLA Guarantee)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UNDERWRITING // STRUCTURAL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Why Our Default Loss Rate Approaches Zero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How we offer 1.0% fees profitably while banks struggle to break even at 4.0%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225E42"/>
                </a:solidFill>
              </a:defRPr>
            </a:pPr>
            <a:r>
              <a:t>01  Zero-Fraud Ledger Attestation</a:t>
            </a:r>
            <a:br/>
          </a:p>
          <a:p>
            <a:pPr>
              <a:defRPr sz="1050">
                <a:solidFill>
                  <a:srgbClr val="66625C"/>
                </a:solidFill>
              </a:defRPr>
            </a:pPr>
            <a:r>
              <a:t>Invoices are only eligible for cash advances after the debtor has entered, matched, and approved them in their accounts payable ledger (supplierStatus === 'approved'). Fake invoices and invoice disputes are structurally impossible.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225E42"/>
                </a:solidFill>
              </a:defRPr>
            </a:pPr>
            <a:r>
              <a:t>02  Real-Time First-Party GL Telemetry</a:t>
            </a:r>
            <a:br/>
          </a:p>
          <a:p>
            <a:pPr>
              <a:defRPr sz="1050">
                <a:solidFill>
                  <a:srgbClr val="66625C"/>
                </a:solidFill>
              </a:defRPr>
            </a:pPr>
            <a:r>
              <a:t>Continuous read-access to live bank balances (PSD2 open banking), customer receivables aging (1510), and equity ratios (2080). Risk is assessed every 60 seconds, not once a year via outdated filed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225E42"/>
                </a:solidFill>
              </a:defRPr>
            </a:pPr>
            <a:r>
              <a:t>03  Self-Collateralizing Trade Graph</a:t>
            </a:r>
            <a:br/>
          </a:p>
          <a:p>
            <a:pPr>
              <a:defRPr sz="1050">
                <a:solidFill>
                  <a:srgbClr val="66625C"/>
                </a:solidFill>
              </a:defRPr>
            </a:pPr>
            <a:r>
              <a:t>In a two-way trading network, if a borrower delays repayment, subsequent incoming receivables from any network peer are automatically intercepted and offset before funds leave the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120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225E42"/>
                </a:solidFill>
              </a:defRPr>
            </a:pPr>
            <a:r>
              <a:t>04  Skattekonto Early-Warning Radar</a:t>
            </a:r>
            <a:br/>
          </a:p>
          <a:p>
            <a:pPr>
              <a:defRPr sz="1050">
                <a:solidFill>
                  <a:srgbClr val="66625C"/>
                </a:solidFill>
              </a:defRPr>
            </a:pPr>
            <a:r>
              <a:t>In Sweden &amp; Europe, unpaid tax on the government tax account (BAS 1630) is the #1 leading indicator of bankruptcy. We detect tax arrears weeks before external credit bureaus register a default.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607040" cy="59436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50" b="1">
                <a:solidFill>
                  <a:srgbClr val="171717"/>
                </a:solidFill>
              </a:defRPr>
            </a:pPr>
            <a:r>
              <a:t>Traditional Factoring Loss Rate: 2.4%  vs  Accounted Expected Loss Rate: &lt; 0.05%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DEFENSIBILITY // NETWORK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The Compounding Mathematical Moat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Why leaving Accounted Network imposes an immediate working capital penalty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225E42"/>
                </a:solidFill>
              </a:defRPr>
            </a:pPr>
            <a:r>
              <a:t>ENGINE 01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Dual-Role Asymmetry</a:t>
            </a:r>
            <a:br/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In B2C, consumers only buy; merchants only sell. In B2B, 100% of participants have both AR and AP. Every onboarded supplier brings 20 to 100 downstream vendors into the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A65A24"/>
                </a:solidFill>
              </a:defRPr>
            </a:pPr>
            <a:r>
              <a:t>ENGINE 02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Viral Bill-To-Join (Negative CAC)</a:t>
            </a:r>
            <a:br/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When Node A approves an invoice, Supplier B receives an alert: 'Your 100k SEK invoice is approved. Net it against your suppliers or withdraw cash in 10s.' Conversion exceeds 40%.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71717"/>
                </a:solidFill>
              </a:defRPr>
            </a:pPr>
            <a:r>
              <a:t>ENGINE 03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Liquidity Density (Metcalfe²)</a:t>
            </a:r>
            <a:br/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At 10 nodes, 10% of trade is nettable. At 1,000 nodes, over 70% of trade clears with zero fiat cash. Staying outside the network imposes a 300 bps working capital penalty.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225E42"/>
                </a:solidFill>
              </a:defRPr>
            </a:pPr>
            <a:r>
              <a:t>THE FLYWHEEL LOOP: Anchor Buyer Onboards -&gt; Subcontractors Join -&gt; Subcontractors Net Downstream -&gt; Viral K-Factor &gt; 2.4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GO-TO-MARKET //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The 3-Stage Trojan Horse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Never ask a CFO to replace their accounting software on day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225E42"/>
                </a:solidFill>
              </a:defRPr>
            </a:pPr>
            <a:r>
              <a:t>STAGE 01 (DAY 1)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The ERP Companion</a:t>
            </a:r>
            <a:br/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Keep Fortnox / Visma / Xero</a:t>
            </a:r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Connect via OAuth in 60s</a:t>
            </a:r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Zero behavioral disruption</a:t>
            </a:r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Immediate netting &amp; liquidity</a:t>
            </a:r>
          </a:p>
          <a:p>
            <a:br/>
            <a:pPr>
              <a:defRPr sz="1100" b="1">
                <a:solidFill>
                  <a:srgbClr val="225E42"/>
                </a:solidFill>
              </a:defRPr>
            </a:pPr>
            <a:r>
              <a:t>Zero Enterprise Sales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A65A24"/>
                </a:solidFill>
              </a:defRPr>
            </a:pPr>
            <a:r>
              <a:t>STAGE 02 (DAY 90)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The Clearing Routine</a:t>
            </a:r>
            <a:br/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Automated 1st-of-month netting</a:t>
            </a:r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Anchor Treasury dynamic yield</a:t>
            </a:r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Multi-month installments (BAS 2840)</a:t>
            </a:r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Counterparty viral invitations</a:t>
            </a:r>
          </a:p>
          <a:p>
            <a:br/>
            <a:pPr>
              <a:defRPr sz="1100" b="1">
                <a:solidFill>
                  <a:srgbClr val="A65A24"/>
                </a:solidFill>
              </a:defRPr>
            </a:pPr>
            <a:r>
              <a:t>High Retention &amp; Habit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71717"/>
                </a:solidFill>
              </a:defRPr>
            </a:pPr>
            <a:r>
              <a:t>STAGE 03 (YEAR 2)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The Full AI ERP Suite</a:t>
            </a:r>
            <a:br/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Upgrade to Accounted Core</a:t>
            </a:r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Autonomous AI bookkeeping</a:t>
            </a:r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Real-time bank integrations</a:t>
            </a:r>
          </a:p>
          <a:p>
            <a:pPr>
              <a:defRPr sz="1100">
                <a:solidFill>
                  <a:srgbClr val="66625C"/>
                </a:solidFill>
              </a:defRPr>
            </a:pPr>
            <a:r>
              <a:t>• Full displacement of legacy ERPs</a:t>
            </a:r>
          </a:p>
          <a:p>
            <a:br/>
            <a:pPr>
              <a:defRPr sz="1100" b="1">
                <a:solidFill>
                  <a:srgbClr val="171717"/>
                </a:solidFill>
              </a:defRPr>
            </a:pPr>
            <a:r>
              <a:t>Maximum Enterprise LTV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171717"/>
                </a:solidFill>
              </a:defRPr>
            </a:pPr>
            <a:r>
              <a:t>💡 Sales velocity is 10x faster because we sell working capital and instant liquidity, not an IT software migration project.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BUSINESS MODEL // SOFTWARE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High-Margin B2B 'Interchange'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5 synergistic revenue streams pairing SaaS with high-velocity clearing tolls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66625C"/>
                </a:solidFill>
              </a:defRPr>
            </a:pPr>
            <a:r>
              <a:t>Stream 1</a:t>
            </a:r>
            <a:br/>
          </a:p>
          <a:p>
            <a:pPr>
              <a:defRPr sz="2200" b="1">
                <a:solidFill>
                  <a:srgbClr val="225E42"/>
                </a:solidFill>
                <a:latin typeface="Georgia"/>
              </a:defRPr>
            </a:pPr>
            <a:r>
              <a:t>1.00%</a:t>
            </a:r>
            <a:br/>
          </a:p>
          <a:p>
            <a:pPr>
              <a:defRPr sz="1200" b="1">
                <a:solidFill>
                  <a:srgbClr val="171717"/>
                </a:solidFill>
              </a:defRPr>
            </a:pPr>
            <a:r>
              <a:t>Drawdown Fee</a:t>
            </a:r>
            <a:br/>
            <a:br/>
          </a:p>
          <a:p>
            <a:pPr>
              <a:defRPr sz="1000">
                <a:solidFill>
                  <a:srgbClr val="66625C"/>
                </a:solidFill>
              </a:defRPr>
            </a:pPr>
            <a:r>
              <a:t>Flat fee on accelerated receivables (18%–24% annualized capital return).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645920"/>
            <a:ext cx="2011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66625C"/>
                </a:solidFill>
              </a:defRPr>
            </a:pPr>
            <a:r>
              <a:t>Stream 2</a:t>
            </a:r>
            <a:br/>
          </a:p>
          <a:p>
            <a:pPr>
              <a:defRPr sz="2200" b="1">
                <a:solidFill>
                  <a:srgbClr val="171717"/>
                </a:solidFill>
                <a:latin typeface="Georgia"/>
              </a:defRPr>
            </a:pPr>
            <a:r>
              <a:t>0.15%</a:t>
            </a:r>
            <a:br/>
          </a:p>
          <a:p>
            <a:pPr>
              <a:defRPr sz="1200" b="1">
                <a:solidFill>
                  <a:srgbClr val="171717"/>
                </a:solidFill>
              </a:defRPr>
            </a:pPr>
            <a:r>
              <a:t>Netting Toll</a:t>
            </a:r>
            <a:br/>
            <a:br/>
          </a:p>
          <a:p>
            <a:pPr>
              <a:defRPr sz="1000">
                <a:solidFill>
                  <a:srgbClr val="66625C"/>
                </a:solidFill>
              </a:defRPr>
            </a:pPr>
            <a:r>
              <a:t>Fee on gross debt extinguished without cash movement. High pure-margin software toll.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2011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66625C"/>
                </a:solidFill>
              </a:defRPr>
            </a:pPr>
            <a:r>
              <a:t>Stream 3 (New)</a:t>
            </a:r>
            <a:br/>
          </a:p>
          <a:p>
            <a:pPr>
              <a:defRPr sz="2200" b="1">
                <a:solidFill>
                  <a:srgbClr val="225E42"/>
                </a:solidFill>
                <a:latin typeface="Georgia"/>
              </a:defRPr>
            </a:pPr>
            <a:r>
              <a:t>3.25%</a:t>
            </a:r>
            <a:br/>
          </a:p>
          <a:p>
            <a:pPr>
              <a:defRPr sz="1200" b="1">
                <a:solidFill>
                  <a:srgbClr val="171717"/>
                </a:solidFill>
              </a:defRPr>
            </a:pPr>
            <a:r>
              <a:t>Escrow Float</a:t>
            </a:r>
            <a:br/>
            <a:br/>
          </a:p>
          <a:p>
            <a:pPr>
              <a:defRPr sz="1000">
                <a:solidFill>
                  <a:srgbClr val="66625C"/>
                </a:solidFill>
              </a:defRPr>
            </a:pPr>
            <a:r>
              <a:t>Risk-free central bank interest earned during 48–72h clearing buffer.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45920"/>
            <a:ext cx="2011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66625C"/>
                </a:solidFill>
              </a:defRPr>
            </a:pPr>
            <a:r>
              <a:t>Stream 4</a:t>
            </a:r>
            <a:br/>
          </a:p>
          <a:p>
            <a:pPr>
              <a:defRPr sz="2200" b="1">
                <a:solidFill>
                  <a:srgbClr val="A65A24"/>
                </a:solidFill>
                <a:latin typeface="Georgia"/>
              </a:defRPr>
            </a:pPr>
            <a:r>
              <a:t>1.25%–3.2%</a:t>
            </a:r>
            <a:br/>
          </a:p>
          <a:p>
            <a:pPr>
              <a:defRPr sz="1200" b="1">
                <a:solidFill>
                  <a:srgbClr val="171717"/>
                </a:solidFill>
              </a:defRPr>
            </a:pPr>
            <a:r>
              <a:t>Installments</a:t>
            </a:r>
            <a:br/>
            <a:br/>
          </a:p>
          <a:p>
            <a:pPr>
              <a:defRPr sz="1000">
                <a:solidFill>
                  <a:srgbClr val="66625C"/>
                </a:solidFill>
              </a:defRPr>
            </a:pPr>
            <a:r>
              <a:t>2, 3, or 4-month installment financing fees on net payables (BAS 2840).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645920"/>
            <a:ext cx="2011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66625C"/>
                </a:solidFill>
              </a:defRPr>
            </a:pPr>
            <a:r>
              <a:t>Stream 5</a:t>
            </a:r>
            <a:br/>
          </a:p>
          <a:p>
            <a:pPr>
              <a:defRPr sz="2200" b="1">
                <a:solidFill>
                  <a:srgbClr val="66625C"/>
                </a:solidFill>
                <a:latin typeface="Georgia"/>
              </a:defRPr>
            </a:pPr>
            <a:r>
              <a:t>€49–€499</a:t>
            </a:r>
            <a:br/>
          </a:p>
          <a:p>
            <a:pPr>
              <a:defRPr sz="1200" b="1">
                <a:solidFill>
                  <a:srgbClr val="171717"/>
                </a:solidFill>
              </a:defRPr>
            </a:pPr>
            <a:r>
              <a:t>SaaS Sub</a:t>
            </a:r>
            <a:br/>
            <a:br/>
          </a:p>
          <a:p>
            <a:pPr>
              <a:defRPr sz="1000">
                <a:solidFill>
                  <a:srgbClr val="66625C"/>
                </a:solidFill>
              </a:defRPr>
            </a:pPr>
            <a:r>
              <a:t>Monthly tier for treasury automation and multi-entity ERP sync.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225E42"/>
                </a:solidFill>
              </a:defRPr>
            </a:pPr>
            <a:r>
              <a:t>Blended Unit Economics: CAC &lt; $85  |  Payback &lt; 2 months  |  Gross Margin &gt; 85%  |  LTV / CAC &gt; 18x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MARKET SIZE // TAM SAM SOM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A Trillion-Dollar Global Settlement Pool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Targeting the massive gap in enterprise B2B payments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71717"/>
                </a:solidFill>
              </a:defRPr>
            </a:pPr>
            <a:r>
              <a:t>TAM</a:t>
            </a:r>
            <a:br/>
          </a:p>
          <a:p>
            <a:pPr>
              <a:defRPr sz="2800" b="1">
                <a:solidFill>
                  <a:srgbClr val="171717"/>
                </a:solidFill>
                <a:latin typeface="Georgia"/>
              </a:defRPr>
            </a:pPr>
            <a:r>
              <a:t>$120 Trillion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Global B2B Payments</a:t>
            </a:r>
            <a:br/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The total annual volume of invoice payments between businesses worldwide across all sectors.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A65A24"/>
                </a:solidFill>
              </a:defRPr>
            </a:pPr>
            <a:r>
              <a:t>SAM</a:t>
            </a:r>
            <a:br/>
          </a:p>
          <a:p>
            <a:pPr>
              <a:defRPr sz="2800" b="1">
                <a:solidFill>
                  <a:srgbClr val="A65A24"/>
                </a:solidFill>
                <a:latin typeface="Georgia"/>
              </a:defRPr>
            </a:pPr>
            <a:r>
              <a:t>$18 Trillion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European SME B2B Trade</a:t>
            </a:r>
            <a:br/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Annual trade credit flow between European SMEs, representing $450B in working capital financing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832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225E42"/>
                </a:solidFill>
              </a:defRPr>
            </a:pPr>
            <a:r>
              <a:t>INITIAL BEACHHEAD (SOM)</a:t>
            </a:r>
            <a:br/>
          </a:p>
          <a:p>
            <a:pPr>
              <a:defRPr sz="2800" b="1">
                <a:solidFill>
                  <a:srgbClr val="225E42"/>
                </a:solidFill>
                <a:latin typeface="Georgia"/>
              </a:defRPr>
            </a:pPr>
            <a:r>
              <a:t>$320 Billion</a:t>
            </a:r>
            <a:br/>
          </a:p>
          <a:p>
            <a:pPr>
              <a:defRPr sz="1600" b="1">
                <a:solidFill>
                  <a:srgbClr val="171717"/>
                </a:solidFill>
                <a:latin typeface="Georgia"/>
              </a:defRPr>
            </a:pPr>
            <a:r>
              <a:t>Nordic B2B Ecosystem</a:t>
            </a:r>
            <a:br/>
            <a:br/>
          </a:p>
          <a:p>
            <a:pPr>
              <a:defRPr sz="1100">
                <a:solidFill>
                  <a:srgbClr val="66625C"/>
                </a:solidFill>
              </a:defRPr>
            </a:pPr>
            <a:r>
              <a:t>Sweden, Norway, Denmark, Finland. 1.2M registered businesses with 70%+ concentrated on Fortnox and Visma.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F3F0E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>
                <a:solidFill>
                  <a:srgbClr val="66625C"/>
                </a:solidFill>
              </a:defRPr>
            </a:pPr>
            <a:r>
              <a:t>📍 Nordic Advantage: 100% digital business registries, BankID identity, standard BAS chart of accounts, and high ERP digital maturity.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COMPETITION //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Why Incumbents Cannot Replicate Us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The 'Switzerland Protocol' advantage over siloed ERPs and legacy banks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07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011680"/>
                <a:gridCol w="2011680"/>
                <a:gridCol w="2194560"/>
              </a:tblGrid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71717"/>
                          </a:solidFill>
                          <a:latin typeface="Helvetica"/>
                        </a:defRPr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71717"/>
                          </a:solidFill>
                          <a:latin typeface="Helvetica"/>
                        </a:defRPr>
                      </a:pPr>
                      <a:r>
                        <a:t>Traditional Banks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71717"/>
                          </a:solidFill>
                          <a:latin typeface="Helvetica"/>
                        </a:defRPr>
                      </a:pPr>
                      <a:r>
                        <a:t>Factoring Fintechs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71717"/>
                          </a:solidFill>
                          <a:latin typeface="Helvetica"/>
                        </a:defRPr>
                      </a:pPr>
                      <a:r>
                        <a:t>Card Networks (Visa B2B)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25E42"/>
                          </a:solidFill>
                          <a:latin typeface="Helvetica"/>
                        </a:defRPr>
                      </a:pPr>
                      <a:r>
                        <a:t>Accounted Network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Multilateral Netting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❌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❌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❌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5E42"/>
                          </a:solidFill>
                          <a:latin typeface="Helvetica"/>
                        </a:defRPr>
                      </a:pPr>
                      <a:r>
                        <a:t>✓ Algorithmic (Up to 70%)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Liquidity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Expensive Bank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Credit Fund Lines (8%)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Card Credit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5E42"/>
                          </a:solidFill>
                          <a:latin typeface="Helvetica"/>
                        </a:defRPr>
                      </a:pPr>
                      <a:r>
                        <a:t>✓ Anchor Treasury (Self-Funded)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Clearing Solvency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High Credit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High Default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Chargeback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5E42"/>
                          </a:solidFill>
                          <a:latin typeface="Helvetica"/>
                        </a:defRPr>
                      </a:pPr>
                      <a:r>
                        <a:t>✓ Collect First, Disburse (PvP)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Effective 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3.0% – 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2.5% – 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2.0% – 3.0% interchange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5E42"/>
                          </a:solidFill>
                          <a:latin typeface="Helvetica"/>
                        </a:defRPr>
                      </a:pPr>
                      <a:r>
                        <a:t>✓ 1.0% Flat Fee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Reconciliation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Manual month-end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Manual file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6625C"/>
                          </a:solidFill>
                          <a:latin typeface="Helvetica"/>
                        </a:defRPr>
                      </a:pPr>
                      <a:r>
                        <a:t>Statement matching mess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5E42"/>
                          </a:solidFill>
                          <a:latin typeface="Helvetica"/>
                        </a:defRPr>
                      </a:pPr>
                      <a:r>
                        <a:t>✓ Auto Serie A Verifikation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EXECUTION // REAL-WORLD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Live in Production Today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De-risked software architecture actively deployed on production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171717"/>
                </a:solidFill>
              </a:defRPr>
            </a:pPr>
            <a:r>
              <a:t>PRODUCTION MILESTONES DEPLOYED</a:t>
            </a:r>
            <a:br/>
          </a:p>
          <a:p>
            <a:pPr>
              <a:defRPr sz="1100">
                <a:solidFill>
                  <a:srgbClr val="171717"/>
                </a:solidFill>
              </a:defRPr>
            </a:pPr>
            <a:r>
              <a:t>• Production URL Live: Deployed globally on Vercel at accounted-production.vercel.app.</a:t>
            </a:r>
            <a:br/>
          </a:p>
          <a:p>
            <a:pPr>
              <a:defRPr sz="1100">
                <a:solidFill>
                  <a:srgbClr val="171717"/>
                </a:solidFill>
              </a:defRPr>
            </a:pPr>
            <a:r>
              <a:t>• Interactive Fortnox Companion: Public endpoint at /demo/fortnox-companion demonstrating live Fortnox API sync, working capital cards, and instant drawdowns.</a:t>
            </a:r>
            <a:br/>
          </a:p>
          <a:p>
            <a:pPr>
              <a:defRPr sz="1100">
                <a:solidFill>
                  <a:srgbClr val="171717"/>
                </a:solidFill>
              </a:defRPr>
            </a:pPr>
            <a:r>
              <a:t>• BAS Double-Entry Engine: Auto-generates balanced Serie A verifikation vouchers (1510, 2440, 1930, 2890) with 0.00 kr difference.</a:t>
            </a:r>
            <a:br/>
          </a:p>
          <a:p>
            <a:pPr>
              <a:defRPr sz="1100">
                <a:solidFill>
                  <a:srgbClr val="171717"/>
                </a:solidFill>
              </a:defRPr>
            </a:pPr>
            <a:r>
              <a:t>• Stockholm Startup Cohort: Actively testing with B2B tech startups in Stockholm to validate rapid BankID attestation and inter-tenant OrgNr routing.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7F3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225E42"/>
                </a:solidFill>
              </a:defRPr>
            </a:pPr>
            <a:r>
              <a:t>LIVE TESTED UNDERWRITING TELEMETRY</a:t>
            </a:r>
            <a:br/>
          </a:p>
          <a:p>
            <a:pPr>
              <a:defRPr sz="2000" b="1">
                <a:solidFill>
                  <a:srgbClr val="171717"/>
                </a:solidFill>
                <a:latin typeface="Georgia"/>
              </a:defRPr>
            </a:pPr>
            <a:r>
              <a:t>Accounted Network Score (ANS)</a:t>
            </a:r>
            <a:br/>
            <a:br/>
          </a:p>
          <a:p>
            <a:pPr>
              <a:defRPr sz="1100">
                <a:solidFill>
                  <a:srgbClr val="171717"/>
                </a:solidFill>
              </a:defRPr>
            </a:pPr>
            <a:r>
              <a:t>Underwriting pipeline active with:</a:t>
            </a:r>
            <a:br/>
            <a:r>
              <a:t>• Quick Ratio (Kassalikviditet) &amp; Equity monitoring</a:t>
            </a:r>
            <a:br/>
            <a:r>
              <a:t>• Skattekonto (BAS 1630) tax arrears radar</a:t>
            </a:r>
            <a:br/>
            <a:r>
              <a:t>• Live Open Banking bank balance verification via PSD2</a:t>
            </a:r>
            <a:br/>
            <a:r>
              <a:t>• Counterparty trade reciprocity scoring</a:t>
            </a:r>
            <a:br/>
            <a:br/>
          </a:p>
          <a:p>
            <a:pPr>
              <a:defRPr sz="1100" b="1">
                <a:solidFill>
                  <a:srgbClr val="225E42"/>
                </a:solidFill>
              </a:defRPr>
            </a:pPr>
            <a:r>
              <a:t>Result: Eliminates 95% of manual factoring ops costs.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5E42"/>
                </a:solidFill>
                <a:latin typeface="Helvetica"/>
              </a:defRPr>
            </a:pPr>
            <a:r>
              <a:t>INVESTMENT // THE OFFERING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71717"/>
                </a:solidFill>
                <a:latin typeface="Georgia"/>
              </a:defRPr>
            </a:pPr>
            <a:r>
              <a:t>The Ask: $4.0M Seed / Series A</a:t>
            </a:r>
          </a:p>
          <a:p>
            <a:pPr>
              <a:defRPr sz="1150">
                <a:solidFill>
                  <a:srgbClr val="66625C"/>
                </a:solidFill>
                <a:latin typeface="Helvetica"/>
              </a:defRPr>
            </a:pPr>
            <a:r>
              <a:t>High capital efficiency: equity funds software &amp; distribution, not expensive debt facilities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400" b="1">
                <a:solidFill>
                  <a:srgbClr val="171717"/>
                </a:solidFill>
                <a:latin typeface="Georgia"/>
              </a:defRPr>
            </a:pPr>
            <a:r>
              <a:t>USE OF PROCEEDS</a:t>
            </a:r>
            <a:br/>
          </a:p>
          <a:p>
            <a:pPr>
              <a:defRPr sz="1200" b="1">
                <a:solidFill>
                  <a:srgbClr val="225E42"/>
                </a:solidFill>
                <a:latin typeface="Helvetica"/>
              </a:defRPr>
            </a:pPr>
            <a:r>
              <a:t>40% ($1.6M) — ERP Connector Engineering</a:t>
            </a:r>
            <a:br/>
          </a:p>
          <a:p>
            <a:pPr>
              <a:defRPr sz="1050">
                <a:solidFill>
                  <a:srgbClr val="66625C"/>
                </a:solidFill>
                <a:latin typeface="Helvetica"/>
              </a:defRPr>
            </a:pPr>
            <a:r>
              <a:t>Visma, Xero, QuickBooks, SAP certified integrations</a:t>
            </a:r>
            <a:br/>
          </a:p>
          <a:p>
            <a:pPr>
              <a:defRPr sz="1200" b="1">
                <a:solidFill>
                  <a:srgbClr val="225E42"/>
                </a:solidFill>
                <a:latin typeface="Helvetica"/>
              </a:defRPr>
            </a:pPr>
            <a:r>
              <a:t>30% ($1.2M) — Anchor Enterprise Acquisition &amp; GTM</a:t>
            </a:r>
            <a:br/>
          </a:p>
          <a:p>
            <a:pPr>
              <a:defRPr sz="1050">
                <a:solidFill>
                  <a:srgbClr val="66625C"/>
                </a:solidFill>
                <a:latin typeface="Helvetica"/>
              </a:defRPr>
            </a:pPr>
            <a:r>
              <a:t>Contractor clusters and supply chain virality engine</a:t>
            </a:r>
            <a:br/>
          </a:p>
          <a:p>
            <a:pPr>
              <a:defRPr sz="1200" b="1">
                <a:solidFill>
                  <a:srgbClr val="225E42"/>
                </a:solidFill>
                <a:latin typeface="Helvetica"/>
              </a:defRPr>
            </a:pPr>
            <a:r>
              <a:t>18% ($720k) — SPV Warehouse Backstop &amp; Buffer</a:t>
            </a:r>
            <a:br/>
          </a:p>
          <a:p>
            <a:pPr>
              <a:defRPr sz="1050">
                <a:solidFill>
                  <a:srgbClr val="66625C"/>
                </a:solidFill>
                <a:latin typeface="Helvetica"/>
              </a:defRPr>
            </a:pPr>
            <a:r>
              <a:t>High-velocity debt facility for 100% SLA guarantee</a:t>
            </a:r>
            <a:br/>
          </a:p>
          <a:p>
            <a:pPr>
              <a:defRPr sz="1200" b="1">
                <a:solidFill>
                  <a:srgbClr val="225E42"/>
                </a:solidFill>
                <a:latin typeface="Helvetica"/>
              </a:defRPr>
            </a:pPr>
            <a:r>
              <a:t>12% ($480k) — Regulatory &amp; Escrow Compliance</a:t>
            </a:r>
            <a:br/>
          </a:p>
          <a:p>
            <a:pPr>
              <a:defRPr sz="1050">
                <a:solidFill>
                  <a:srgbClr val="66625C"/>
                </a:solidFill>
                <a:latin typeface="Helvetica"/>
              </a:defRPr>
            </a:pPr>
            <a:r>
              <a:t>Authorized segregated escrow custody under Swedish Lag 1944:181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7F3"/>
          </a:solidFill>
          <a:ln w="12700">
            <a:solidFill>
              <a:srgbClr val="225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100" b="1">
                <a:solidFill>
                  <a:srgbClr val="225E42"/>
                </a:solidFill>
                <a:latin typeface="Helvetica"/>
              </a:defRPr>
            </a:pPr>
            <a:r>
              <a:t>18-MONTH TARGET OUTCOMES</a:t>
            </a:r>
            <a:br/>
          </a:p>
          <a:p>
            <a:pPr>
              <a:defRPr sz="2200" b="1">
                <a:solidFill>
                  <a:srgbClr val="171717"/>
                </a:solidFill>
                <a:latin typeface="Georgia"/>
              </a:defRPr>
            </a:pPr>
            <a:r>
              <a:t>$100M+ Netting &amp; Clearing Run-Rate</a:t>
            </a:r>
            <a:br/>
            <a:br/>
          </a:p>
          <a:p>
            <a:pPr>
              <a:defRPr sz="1150">
                <a:solidFill>
                  <a:srgbClr val="66625C"/>
                </a:solidFill>
              </a:defRPr>
            </a:pPr>
            <a:r>
              <a:t>Achieving critical liquidity density across 2,500 active SME nodes, demonstrating negative customer acquisition cost through organic viral counterparty bill-to-join loops and Anchor Treasury self-funding.</a:t>
            </a:r>
            <a:br/>
            <a:br/>
          </a:p>
          <a:p>
            <a:pPr>
              <a:defRPr sz="1100" b="1">
                <a:solidFill>
                  <a:srgbClr val="171717"/>
                </a:solidFill>
                <a:latin typeface="Helvetica"/>
              </a:defRPr>
            </a:pPr>
            <a:r>
              <a:t>Live Interactive Production Demo:</a:t>
            </a:r>
          </a:p>
          <a:p>
            <a:pPr>
              <a:defRPr sz="1100">
                <a:solidFill>
                  <a:srgbClr val="225E42"/>
                </a:solidFill>
                <a:latin typeface="Helvetica"/>
              </a:defRPr>
            </a:pPr>
            <a:r>
              <a:t>accounted-production.vercel.app/demo/fortnox-companion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